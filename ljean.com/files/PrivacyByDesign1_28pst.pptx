
<file path=[Content_Types].xml><?xml version="1.0" encoding="utf-8"?>
<Types xmlns="http://schemas.openxmlformats.org/package/2006/content-types">
  <Default Extension="rels" ContentType="application/vnd.openxmlformats-package.relationships+xml"/>
  <Override PartName="/ppt/slideLayouts/slideLayout1.xml" ContentType="application/vnd.openxmlformats-officedocument.presentationml.slideLayout+xml"/>
  <Default Extension="png" ContentType="image/png"/>
  <Default Extension="jpeg" ContentType="image/jpeg"/>
  <Default Extension="xml" ContentType="application/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8.xml" ContentType="application/vnd.openxmlformats-officedocument.presentationml.slideLayout+xml"/>
  <Override PartName="/ppt/slides/slide7.xml" ContentType="application/vnd.openxmlformats-officedocument.presentationml.slide+xml"/>
  <Override PartName="/ppt/slideLayouts/slideLayout6.xml" ContentType="application/vnd.openxmlformats-officedocument.presentationml.slideLayout+xml"/>
  <Override PartName="/ppt/slides/slide5.xml" ContentType="application/vnd.openxmlformats-officedocument.presentationml.slide+xml"/>
  <Default Extension="pict" ContentType="image/pict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10.xml" ContentType="application/vnd.openxmlformats-officedocument.presentationml.slideLayout+xml"/>
  <Override PartName="/ppt/slides/slide3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Default Extension="bin" ContentType="application/vnd.openxmlformats-officedocument.presentationml.printerSettings"/>
  <Default Extension="tiff" ContentType="image/tiff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slides/slide8.xml" ContentType="application/vnd.openxmlformats-officedocument.presentationml.slide+xml"/>
  <Override PartName="/ppt/presentation.xml" ContentType="application/vnd.openxmlformats-officedocument.presentationml.presentation.main+xml"/>
  <Default Extension="vml" ContentType="application/vnd.openxmlformats-officedocument.vmlDrawing"/>
  <Override PartName="/ppt/slideLayouts/slideLayout7.xml" ContentType="application/vnd.openxmlformats-officedocument.presentationml.slideLayout+xml"/>
  <Override PartName="/ppt/slides/slide6.xml" ContentType="application/vnd.openxmlformats-officedocument.presentationml.slide+xml"/>
  <Override PartName="/ppt/slideLayouts/slideLayout5.xml" ContentType="application/vnd.openxmlformats-officedocument.presentationml.slideLayout+xml"/>
  <Override PartName="/ppt/slides/slide4.xml" ContentType="application/vnd.openxmlformats-officedocument.presentationml.slide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slideLayouts/slideLayout3.xml" ContentType="application/vnd.openxmlformats-officedocument.presentationml.slideLayout+xml"/>
  <Override PartName="/ppt/slides/slide2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aveSubsetFonts="1" autoCompressPictures="0">
  <p:sldMasterIdLst>
    <p:sldMasterId id="2147483660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5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normalViewPr>
    <p:restoredLeft sz="15620"/>
    <p:restoredTop sz="94660"/>
  </p:normalViewPr>
  <p:slideViewPr>
    <p:cSldViewPr snapToGrid="0" snapToObjects="1">
      <p:cViewPr varScale="1">
        <p:scale>
          <a:sx n="74" d="100"/>
          <a:sy n="74" d="100"/>
        </p:scale>
        <p:origin x="-133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printerSettings" Target="printerSettings/printerSettings1.bin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pict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22030" y="1371600"/>
            <a:ext cx="8229600" cy="1828800"/>
          </a:xfrm>
        </p:spPr>
        <p:txBody>
          <a:bodyPr vert="horz" lIns="45720" tIns="0" rIns="45720" bIns="0" anchor="b">
            <a:normAutofit/>
            <a:scene3d>
              <a:camera prst="orthographicFront"/>
              <a:lightRig rig="soft" dir="t">
                <a:rot lat="0" lon="0" rev="17220000"/>
              </a:lightRig>
            </a:scene3d>
            <a:sp3d prstMaterial="softEdge">
              <a:bevelT w="38100" h="38100"/>
            </a:sp3d>
          </a:bodyPr>
          <a:lstStyle>
            <a:lvl1pPr>
              <a:defRPr sz="4800" b="1" cap="all" baseline="0">
                <a:ln w="6350">
                  <a:noFill/>
                </a:ln>
                <a:gradFill>
                  <a:gsLst>
                    <a:gs pos="0">
                      <a:schemeClr val="accent1">
                        <a:tint val="73000"/>
                        <a:satMod val="145000"/>
                      </a:schemeClr>
                    </a:gs>
                    <a:gs pos="73000">
                      <a:schemeClr val="accent1">
                        <a:tint val="73000"/>
                        <a:satMod val="145000"/>
                      </a:schemeClr>
                    </a:gs>
                    <a:gs pos="100000">
                      <a:schemeClr val="accent1">
                        <a:tint val="83000"/>
                        <a:satMod val="143000"/>
                      </a:schemeClr>
                    </a:gs>
                  </a:gsLst>
                  <a:lin ang="4800000" scaled="1"/>
                </a:gradFill>
                <a:effectLst>
                  <a:outerShdw blurRad="127000" dist="200000" dir="2700000" algn="tl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3E256-09FD-A14A-A250-EE12991AD236}" type="datetimeFigureOut">
              <a:rPr lang="en-US" smtClean="0"/>
              <a:pPr/>
              <a:t>1/25/10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2A378-86F7-9049-A107-DE3C0321B6B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371600" y="3331698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3E256-09FD-A14A-A250-EE12991AD236}" type="datetimeFigureOut">
              <a:rPr lang="en-US" smtClean="0"/>
              <a:pPr/>
              <a:t>1/25/10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2A378-86F7-9049-A107-DE3C0321B6B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secHead" preserve="1">
  <p:cSld name="Section Header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609600"/>
            <a:ext cx="7086600" cy="1828800"/>
          </a:xfrm>
        </p:spPr>
        <p:txBody>
          <a:bodyPr vert="horz" bIns="0" anchor="b">
            <a:noAutofit/>
            <a:scene3d>
              <a:camera prst="orthographicFront"/>
              <a:lightRig rig="soft" dir="t">
                <a:rot lat="0" lon="0" rev="17220000"/>
              </a:lightRig>
            </a:scene3d>
            <a:sp3d prstMaterial="softEdge">
              <a:bevelT w="38100" h="38100"/>
              <a:contourClr>
                <a:schemeClr val="tx2">
                  <a:shade val="50000"/>
                </a:schemeClr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4800" b="1" cap="none" baseline="0">
                <a:ln w="6350">
                  <a:noFill/>
                </a:ln>
                <a:solidFill>
                  <a:schemeClr val="accent1">
                    <a:tint val="90000"/>
                    <a:satMod val="120000"/>
                  </a:schemeClr>
                </a:solidFill>
                <a:effectLst>
                  <a:outerShdw blurRad="114300" dist="101600" dir="2700000" algn="tl" rotWithShape="0">
                    <a:srgbClr val="0000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00200" y="2507786"/>
            <a:ext cx="7086600" cy="1509712"/>
          </a:xfrm>
        </p:spPr>
        <p:txBody>
          <a:bodyPr anchor="t"/>
          <a:lstStyle>
            <a:lvl1pPr marL="73152" indent="0" algn="l">
              <a:buNone/>
              <a:defRPr sz="20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3E256-09FD-A14A-A250-EE12991AD236}" type="datetimeFigureOut">
              <a:rPr lang="en-US" smtClean="0"/>
              <a:pPr/>
              <a:t>1/25/10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24800" y="6416675"/>
            <a:ext cx="762000" cy="365125"/>
          </a:xfrm>
        </p:spPr>
        <p:txBody>
          <a:bodyPr/>
          <a:lstStyle/>
          <a:p>
            <a:fld id="{39E2A378-86F7-9049-A107-DE3C0321B6B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3E256-09FD-A14A-A250-EE12991AD236}" type="datetimeFigureOut">
              <a:rPr lang="en-US" smtClean="0"/>
              <a:pPr/>
              <a:t>1/25/10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2A378-86F7-9049-A107-DE3C0321B6B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2"/>
            <a:ext cx="4040188" cy="750887"/>
          </a:xfrm>
        </p:spPr>
        <p:txBody>
          <a:bodyPr anchor="ctr"/>
          <a:lstStyle>
            <a:lvl1pPr marL="0" indent="0">
              <a:buNone/>
              <a:defRPr sz="2400" b="0" cap="all" baseline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535112"/>
            <a:ext cx="4041775" cy="750887"/>
          </a:xfrm>
        </p:spPr>
        <p:txBody>
          <a:bodyPr anchor="ctr"/>
          <a:lstStyle>
            <a:lvl1pPr marL="0" indent="0">
              <a:buNone/>
              <a:defRPr sz="2400" b="0" cap="all" baseline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4040188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362200"/>
            <a:ext cx="4041775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3E256-09FD-A14A-A250-EE12991AD236}" type="datetimeFigureOut">
              <a:rPr lang="en-US" smtClean="0"/>
              <a:pPr/>
              <a:t>1/25/10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2A378-86F7-9049-A107-DE3C0321B6B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3E256-09FD-A14A-A250-EE12991AD236}" type="datetimeFigureOut">
              <a:rPr lang="en-US" smtClean="0"/>
              <a:pPr/>
              <a:t>1/25/10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2A378-86F7-9049-A107-DE3C0321B6B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3E256-09FD-A14A-A250-EE12991AD236}" type="datetimeFigureOut">
              <a:rPr lang="en-US" smtClean="0"/>
              <a:pPr/>
              <a:t>1/25/10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2A378-86F7-9049-A107-DE3C0321B6B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vert="horz" anchor="b">
            <a:normAutofit/>
            <a:sp3d prstMaterial="softEdge"/>
          </a:bodyPr>
          <a:lstStyle>
            <a:lvl1pPr algn="l">
              <a:buNone/>
              <a:defRPr sz="2200" b="0">
                <a:ln w="6350">
                  <a:noFill/>
                </a:ln>
                <a:solidFill>
                  <a:schemeClr val="accent1">
                    <a:tint val="73000"/>
                    <a:satMod val="180000"/>
                  </a:schemeClr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524000"/>
            <a:ext cx="3008313" cy="4602163"/>
          </a:xfrm>
        </p:spPr>
        <p:txBody>
          <a:bodyPr/>
          <a:lstStyle>
            <a:lvl1pPr marL="0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2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3E256-09FD-A14A-A250-EE12991AD236}" type="datetimeFigureOut">
              <a:rPr lang="en-US" smtClean="0"/>
              <a:pPr/>
              <a:t>1/25/10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2A378-86F7-9049-A107-DE3C0321B6B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00" y="609600"/>
            <a:ext cx="5486400" cy="522288"/>
          </a:xfrm>
        </p:spPr>
        <p:txBody>
          <a:bodyPr lIns="45720" rIns="45720" bIns="0" anchor="b">
            <a:sp3d prstMaterial="softEdge"/>
          </a:bodyPr>
          <a:lstStyle>
            <a:lvl1pPr algn="ctr">
              <a:buNone/>
              <a:defRPr sz="20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828800" y="1831975"/>
            <a:ext cx="5486400" cy="3962400"/>
          </a:xfrm>
          <a:solidFill>
            <a:schemeClr val="bg2"/>
          </a:solidFill>
          <a:ln w="44450" cap="sq" cmpd="sng" algn="ctr">
            <a:solidFill>
              <a:srgbClr val="FFFFFF"/>
            </a:solidFill>
            <a:prstDash val="solid"/>
            <a:miter lim="800000"/>
          </a:ln>
          <a:effectLst>
            <a:outerShdw blurRad="190500" dist="228600" dir="2700000" sy="90000">
              <a:srgbClr val="000000">
                <a:alpha val="25000"/>
              </a:srgbClr>
            </a:outerShdw>
          </a:effectLst>
          <a:scene3d>
            <a:camera prst="orthographicFront">
              <a:rot lat="0" lon="0" rev="0"/>
            </a:camera>
            <a:lightRig rig="balanced" dir="tr">
              <a:rot lat="0" lon="0" rev="2700000"/>
            </a:lightRig>
          </a:scene3d>
          <a:sp3d prstMaterial="matte">
            <a:contourClr>
              <a:schemeClr val="tx2">
                <a:shade val="50000"/>
              </a:schemeClr>
            </a:contourClr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/>
          <a:lstStyle>
            <a:lvl1pPr indent="0">
              <a:buNone/>
              <a:defRPr sz="3200"/>
            </a:lvl1pPr>
          </a:lstStyle>
          <a:p>
            <a:pPr marL="0" algn="l" rtl="0" eaLnBrk="1" latinLnBrk="0" hangingPunct="1"/>
            <a:r>
              <a:rPr kumimoji="0" lang="en-US" smtClean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Click icon to add picture</a:t>
            </a:r>
            <a:endParaRPr kumimoji="0" lang="en-US" dirty="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828800" y="1166787"/>
            <a:ext cx="5486400" cy="530352"/>
          </a:xfrm>
        </p:spPr>
        <p:txBody>
          <a:bodyPr lIns="45720" tIns="45720" rIns="45720" anchor="t"/>
          <a:lstStyle>
            <a:lvl1pPr marL="0" indent="0" algn="ct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3E256-09FD-A14A-A250-EE12991AD236}" type="datetimeFigureOut">
              <a:rPr lang="en-US" smtClean="0"/>
              <a:pPr/>
              <a:t>1/25/10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2A378-86F7-9049-A107-DE3C0321B6B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3E256-09FD-A14A-A250-EE12991AD236}" type="datetimeFigureOut">
              <a:rPr lang="en-US" smtClean="0"/>
              <a:pPr/>
              <a:t>1/25/10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2A378-86F7-9049-A107-DE3C0321B6B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3E256-09FD-A14A-A250-EE12991AD236}" type="datetimeFigureOut">
              <a:rPr lang="en-US" smtClean="0"/>
              <a:pPr/>
              <a:t>1/25/10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2A378-86F7-9049-A107-DE3C0321B6B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>
                <a:rot lat="0" lon="0" rev="16800000"/>
              </a:lightRig>
            </a:scene3d>
            <a:sp3d prstMaterial="softEdge">
              <a:bevelT w="38100" h="38100"/>
            </a:sp3d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70916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457200" y="6416675"/>
            <a:ext cx="2133600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fld id="{9913E256-09FD-A14A-A250-EE12991AD236}" type="datetimeFigureOut">
              <a:rPr lang="en-US" smtClean="0"/>
              <a:pPr/>
              <a:t>1/25/10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3124200" y="6416675"/>
            <a:ext cx="2895600" cy="365125"/>
          </a:xfrm>
          <a:prstGeom prst="rect">
            <a:avLst/>
          </a:prstGeom>
        </p:spPr>
        <p:txBody>
          <a:bodyPr vert="horz" anchor="b"/>
          <a:lstStyle>
            <a:lvl1pPr algn="ctr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7924800" y="6416675"/>
            <a:ext cx="762000" cy="365125"/>
          </a:xfrm>
          <a:prstGeom prst="rect">
            <a:avLst/>
          </a:prstGeom>
        </p:spPr>
        <p:txBody>
          <a:bodyPr vert="horz" lIns="0" rIns="0" anchor="b"/>
          <a:lstStyle>
            <a:lvl1pPr algn="r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fld id="{39E2A378-86F7-9049-A107-DE3C0321B6B6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1" latinLnBrk="0" hangingPunct="1">
        <a:spcBef>
          <a:spcPct val="0"/>
        </a:spcBef>
        <a:buNone/>
        <a:defRPr kumimoji="0" sz="4100" b="1" kern="1200" cap="none" baseline="0">
          <a:ln w="6350">
            <a:noFill/>
          </a:ln>
          <a:gradFill>
            <a:gsLst>
              <a:gs pos="0">
                <a:schemeClr val="accent1">
                  <a:tint val="73000"/>
                  <a:satMod val="145000"/>
                </a:schemeClr>
              </a:gs>
              <a:gs pos="73000">
                <a:schemeClr val="accent1">
                  <a:tint val="73000"/>
                  <a:satMod val="145000"/>
                </a:schemeClr>
              </a:gs>
              <a:gs pos="100000">
                <a:schemeClr val="accent1">
                  <a:tint val="83000"/>
                  <a:satMod val="143000"/>
                </a:schemeClr>
              </a:gs>
            </a:gsLst>
            <a:lin ang="4800000" scaled="1"/>
          </a:gradFill>
          <a:effectLst>
            <a:outerShdw blurRad="114300" dist="101600" dir="2700000" algn="tl" rotWithShape="0">
              <a:srgbClr val="000000">
                <a:alpha val="40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548640" indent="-411480" algn="l" rtl="0" eaLnBrk="1" latinLnBrk="0" hangingPunct="1">
        <a:spcBef>
          <a:spcPct val="20000"/>
        </a:spcBef>
        <a:buClr>
          <a:schemeClr val="tx1">
            <a:shade val="95000"/>
          </a:schemeClr>
        </a:buClr>
        <a:buSzPct val="65000"/>
        <a:buFont typeface="Wingdings 2"/>
        <a:buChar char="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868680" indent="-283464" algn="l" rtl="0" eaLnBrk="1" latinLnBrk="0" hangingPunct="1">
        <a:spcBef>
          <a:spcPct val="20000"/>
        </a:spcBef>
        <a:buClr>
          <a:schemeClr val="tx1"/>
        </a:buClr>
        <a:buSzPct val="80000"/>
        <a:buFont typeface="Wingdings 2"/>
        <a:buChar char="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33856" indent="-228600" algn="l" rtl="0" eaLnBrk="1" latinLnBrk="0" hangingPunct="1">
        <a:spcBef>
          <a:spcPct val="20000"/>
        </a:spcBef>
        <a:buClr>
          <a:schemeClr val="tx1"/>
        </a:buClr>
        <a:buSzPct val="95000"/>
        <a:buFont typeface="Wingdings"/>
        <a:buChar char=""/>
        <a:defRPr kumimoji="0"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353312" indent="-182880" algn="l" rtl="0" eaLnBrk="1" latinLnBrk="0" hangingPunct="1">
        <a:spcBef>
          <a:spcPct val="20000"/>
        </a:spcBef>
        <a:buClr>
          <a:schemeClr val="tx1"/>
        </a:buClr>
        <a:buSzPct val="100000"/>
        <a:buFont typeface="Wingdings 3"/>
        <a:buChar char="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45336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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64792" indent="-182880" algn="l" rtl="0" eaLnBrk="1" latinLnBrk="0" hangingPunct="1">
        <a:spcBef>
          <a:spcPct val="20000"/>
        </a:spcBef>
        <a:buClr>
          <a:schemeClr val="tx1"/>
        </a:buClr>
        <a:buFont typeface="Wingdings 3"/>
        <a:buChar char="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65960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167128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368296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video" Target="file://localhost/Users/ljcamp/Documents/Achievements/ieee/ETHOS_MASTER.mov" TargetMode="External"/><Relationship Id="rId2" Type="http://schemas.openxmlformats.org/officeDocument/2006/relationships/slideLayout" Target="../slideLayouts/slideLayout2.xml"/><Relationship Id="rId3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Macintosh%20HD:Users:ljcamp:Documents:IUproposals:ubicomp:IEEEsecPriv:ieee_01_11.doc!OLE_LINK1" TargetMode="External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jpeg"/><Relationship Id="rId1" Type="http://schemas.openxmlformats.org/officeDocument/2006/relationships/vmlDrawing" Target="../drawings/vmlDrawing1.vml"/><Relationship Id="rId2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tiff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jpe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ETHOS</a:t>
            </a:r>
            <a:br>
              <a:rPr lang="en-US" dirty="0" smtClean="0"/>
            </a:br>
            <a:r>
              <a:rPr lang="en-US" dirty="0" smtClean="0"/>
              <a:t>A Project with Privacy by Design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331697"/>
            <a:ext cx="6400800" cy="2297139"/>
          </a:xfrm>
        </p:spPr>
        <p:txBody>
          <a:bodyPr>
            <a:normAutofit fontScale="70000" lnSpcReduction="20000"/>
          </a:bodyPr>
          <a:lstStyle/>
          <a:p>
            <a:r>
              <a:rPr lang="en-US" dirty="0" smtClean="0"/>
              <a:t>Indiana </a:t>
            </a:r>
            <a:r>
              <a:rPr lang="en-US" dirty="0" smtClean="0"/>
              <a:t>University</a:t>
            </a:r>
          </a:p>
          <a:p>
            <a:endParaRPr lang="en-US" dirty="0" smtClean="0"/>
          </a:p>
          <a:p>
            <a:r>
              <a:rPr lang="en-US" dirty="0" smtClean="0"/>
              <a:t>L Jean </a:t>
            </a:r>
            <a:r>
              <a:rPr lang="en-US" dirty="0" smtClean="0"/>
              <a:t>Camp</a:t>
            </a:r>
          </a:p>
          <a:p>
            <a:endParaRPr lang="en-US" dirty="0" smtClean="0"/>
          </a:p>
          <a:p>
            <a:r>
              <a:rPr lang="en-US" dirty="0" smtClean="0"/>
              <a:t>&amp;</a:t>
            </a:r>
          </a:p>
          <a:p>
            <a:endParaRPr lang="en-US" dirty="0" smtClean="0"/>
          </a:p>
          <a:p>
            <a:r>
              <a:rPr lang="en-US" dirty="0" smtClean="0"/>
              <a:t>Kay Connelly • </a:t>
            </a:r>
            <a:r>
              <a:rPr lang="en-US" dirty="0" err="1" smtClean="0"/>
              <a:t>Lesa</a:t>
            </a:r>
            <a:r>
              <a:rPr lang="en-US" dirty="0" smtClean="0"/>
              <a:t> Hube</a:t>
            </a:r>
            <a:r>
              <a:rPr lang="en-US" dirty="0" smtClean="0"/>
              <a:t>r • </a:t>
            </a:r>
            <a:r>
              <a:rPr lang="en-US" dirty="0" err="1" smtClean="0"/>
              <a:t>Kalpana</a:t>
            </a:r>
            <a:r>
              <a:rPr lang="en-US" dirty="0" smtClean="0"/>
              <a:t> Shankar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ETHOS_MASTER.mov">
            <a:hlinkClick r:id="" action="ppaction://media"/>
          </p:cNvPr>
          <p:cNvPicPr/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video>
              <p:cMediaNode>
                <p:cTn id="7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Domains</a:t>
            </a:r>
            <a:endParaRPr lang="en-US" dirty="0"/>
          </a:p>
        </p:txBody>
      </p:sp>
      <p:pic>
        <p:nvPicPr>
          <p:cNvPr id="6" name="Picture 5" descr="FourDomai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7350" y="1549400"/>
            <a:ext cx="3289300" cy="37592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Goals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Data </a:t>
            </a:r>
            <a:r>
              <a:rPr lang="en-US" dirty="0"/>
              <a:t>minimizing </a:t>
            </a:r>
            <a:r>
              <a:rPr lang="en-US" dirty="0" smtClean="0"/>
              <a:t>design</a:t>
            </a:r>
            <a:endParaRPr lang="en-US" dirty="0" smtClean="0"/>
          </a:p>
          <a:p>
            <a:r>
              <a:rPr lang="en-US" dirty="0" smtClean="0"/>
              <a:t>C</a:t>
            </a:r>
            <a:r>
              <a:rPr lang="en-US" dirty="0" smtClean="0"/>
              <a:t>lear </a:t>
            </a:r>
            <a:r>
              <a:rPr lang="en-US" dirty="0"/>
              <a:t>statements of the design goals</a:t>
            </a:r>
            <a:endParaRPr lang="en-US" dirty="0" smtClean="0"/>
          </a:p>
          <a:p>
            <a:r>
              <a:rPr lang="en-US" dirty="0" smtClean="0"/>
              <a:t>U</a:t>
            </a:r>
            <a:r>
              <a:rPr lang="en-US" dirty="0" smtClean="0"/>
              <a:t>ser </a:t>
            </a:r>
            <a:r>
              <a:rPr lang="en-US" dirty="0"/>
              <a:t>empowerment in the ability to  have three settings: on, off and mute.</a:t>
            </a:r>
            <a:r>
              <a:rPr lang="en-US" dirty="0" smtClean="0"/>
              <a:t> 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Empowerment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On</a:t>
            </a:r>
            <a:r>
              <a:rPr lang="en-US" dirty="0" smtClean="0"/>
              <a:t>: full functionality.</a:t>
            </a:r>
            <a:endParaRPr lang="en-US" dirty="0" smtClean="0"/>
          </a:p>
          <a:p>
            <a:r>
              <a:rPr lang="en-US" dirty="0" smtClean="0"/>
              <a:t>Pause: </a:t>
            </a:r>
            <a:r>
              <a:rPr lang="en-US" dirty="0" smtClean="0"/>
              <a:t>the </a:t>
            </a:r>
            <a:r>
              <a:rPr lang="en-US" dirty="0" smtClean="0"/>
              <a:t>device is on but not sending any information.</a:t>
            </a:r>
            <a:endParaRPr lang="en-US" dirty="0" smtClean="0"/>
          </a:p>
          <a:p>
            <a:r>
              <a:rPr lang="en-US" dirty="0" smtClean="0"/>
              <a:t>Off</a:t>
            </a:r>
            <a:r>
              <a:rPr lang="en-US" dirty="0" smtClean="0"/>
              <a:t>: others are notified that it is off.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Control</a:t>
            </a:r>
            <a:endParaRPr lang="en-US" dirty="0"/>
          </a:p>
        </p:txBody>
      </p:sp>
      <p:graphicFrame>
        <p:nvGraphicFramePr>
          <p:cNvPr id="19458" name="Object 2"/>
          <p:cNvGraphicFramePr>
            <a:graphicFrameLocks noChangeAspect="1"/>
          </p:cNvGraphicFramePr>
          <p:nvPr/>
        </p:nvGraphicFramePr>
        <p:xfrm>
          <a:off x="6184900" y="1973845"/>
          <a:ext cx="2501900" cy="2120900"/>
        </p:xfrm>
        <a:graphic>
          <a:graphicData uri="http://schemas.openxmlformats.org/presentationml/2006/ole">
            <p:oleObj spid="_x0000_s19458" name="Document" r:id="rId3" imgW="2501900" imgH="2120900" progId="Word.Document.12">
              <p:link updateAutomatic="1"/>
            </p:oleObj>
          </a:graphicData>
        </a:graphic>
      </p:graphicFrame>
      <p:pic>
        <p:nvPicPr>
          <p:cNvPr id="5" name="Picture 3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71488" y="10285413"/>
            <a:ext cx="3048000" cy="2295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5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946013" y="2655243"/>
            <a:ext cx="3048000" cy="2295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Picture 6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2470013" y="3424237"/>
            <a:ext cx="3048000" cy="2295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7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3994013" y="4572000"/>
            <a:ext cx="3048000" cy="228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" name="Picture 8" descr="keyPad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84900" y="1905943"/>
            <a:ext cx="1498600" cy="1498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Transparency</a:t>
            </a:r>
            <a:endParaRPr lang="en-US" dirty="0"/>
          </a:p>
        </p:txBody>
      </p:sp>
      <p:pic>
        <p:nvPicPr>
          <p:cNvPr id="5" name="Picture 4" descr="USBpo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3900" y="5232400"/>
            <a:ext cx="1651000" cy="1422400"/>
          </a:xfrm>
          <a:prstGeom prst="rect">
            <a:avLst/>
          </a:prstGeom>
        </p:spPr>
      </p:pic>
      <p:pic>
        <p:nvPicPr>
          <p:cNvPr id="8" name="Picture 7" descr="NetTrustShort.tif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417638"/>
            <a:ext cx="8267700" cy="330200"/>
          </a:xfrm>
          <a:prstGeom prst="rect">
            <a:avLst/>
          </a:prstGeom>
        </p:spPr>
      </p:pic>
      <p:pic>
        <p:nvPicPr>
          <p:cNvPr id="9" name="Picture 8" descr="GreenCube2.ps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9596" y="2388097"/>
            <a:ext cx="3839450" cy="4226918"/>
          </a:xfrm>
          <a:prstGeom prst="rect">
            <a:avLst/>
          </a:prstGeom>
        </p:spPr>
      </p:pic>
      <p:pic>
        <p:nvPicPr>
          <p:cNvPr id="11" name="Picture 10" descr="NetTrustWarnSmal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95450" y="274638"/>
            <a:ext cx="5753100" cy="177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Matters?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Activity</a:t>
            </a:r>
          </a:p>
          <a:p>
            <a:r>
              <a:rPr lang="en-US" dirty="0" smtClean="0"/>
              <a:t>Granularity</a:t>
            </a:r>
          </a:p>
          <a:p>
            <a:r>
              <a:rPr lang="en-US" dirty="0" smtClean="0"/>
              <a:t>Perceived utility</a:t>
            </a:r>
          </a:p>
          <a:p>
            <a:r>
              <a:rPr lang="en-US" dirty="0" smtClean="0"/>
              <a:t>Control</a:t>
            </a: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Conclusions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Minimize data</a:t>
            </a:r>
          </a:p>
          <a:p>
            <a:r>
              <a:rPr lang="en-US" dirty="0" smtClean="0"/>
              <a:t>Make control meaningful</a:t>
            </a:r>
          </a:p>
          <a:p>
            <a:r>
              <a:rPr lang="en-US" dirty="0" smtClean="0"/>
              <a:t>Make control usable</a:t>
            </a:r>
            <a:endParaRPr lang="en-US" dirty="0" smtClean="0"/>
          </a:p>
          <a:p>
            <a:r>
              <a:rPr lang="en-US" dirty="0" smtClean="0"/>
              <a:t>Empower, don’t overwhelm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pex">
  <a:themeElements>
    <a:clrScheme name="Apex">
      <a:dk1>
        <a:sysClr val="windowText" lastClr="000000"/>
      </a:dk1>
      <a:lt1>
        <a:sysClr val="window" lastClr="FFFFFF"/>
      </a:lt1>
      <a:dk2>
        <a:srgbClr val="69676D"/>
      </a:dk2>
      <a:lt2>
        <a:srgbClr val="C9C2D1"/>
      </a:lt2>
      <a:accent1>
        <a:srgbClr val="CEB966"/>
      </a:accent1>
      <a:accent2>
        <a:srgbClr val="9CB084"/>
      </a:accent2>
      <a:accent3>
        <a:srgbClr val="6BB1C9"/>
      </a:accent3>
      <a:accent4>
        <a:srgbClr val="6585CF"/>
      </a:accent4>
      <a:accent5>
        <a:srgbClr val="7E6BC9"/>
      </a:accent5>
      <a:accent6>
        <a:srgbClr val="A379BB"/>
      </a:accent6>
      <a:hlink>
        <a:srgbClr val="410082"/>
      </a:hlink>
      <a:folHlink>
        <a:srgbClr val="932968"/>
      </a:folHlink>
    </a:clrScheme>
    <a:fontScheme name="Apex">
      <a:majorFont>
        <a:latin typeface="Lucida Sans"/>
        <a:ea typeface=""/>
        <a:cs typeface=""/>
        <a:font script="Grek" typeface="Arial"/>
        <a:font script="Cyrl" typeface="Arial"/>
        <a:font script="Jpan" typeface="ヒラギノ丸ゴ Pro W4"/>
        <a:font script="Hang" typeface="휴먼옛체"/>
        <a:font script="Hans" typeface="黑体"/>
        <a:font script="Hant" typeface="微軟正黑體"/>
        <a:font script="Arab" typeface="Tahoma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Book Antiqua"/>
        <a:ea typeface=""/>
        <a:cs typeface=""/>
        <a:font script="Grek" typeface="Times New Roman"/>
        <a:font script="Cyrl" typeface="Times New Roman"/>
        <a:font script="Jpan" typeface="ＭＳ 明朝"/>
        <a:font script="Hang" typeface="돋움"/>
        <a:font script="Hans" typeface="宋体"/>
        <a:font script="Hant" typeface="新細明體"/>
        <a:font script="Arab" typeface="Times New Roman"/>
        <a:font script="Hebr" typeface="David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Apex">
      <a:fillStyleLst>
        <a:solidFill>
          <a:schemeClr val="phClr"/>
        </a:solidFill>
        <a:gradFill rotWithShape="1">
          <a:gsLst>
            <a:gs pos="20000">
              <a:schemeClr val="phClr">
                <a:tint val="9000"/>
              </a:schemeClr>
            </a:gs>
            <a:gs pos="100000">
              <a:schemeClr val="phClr">
                <a:tint val="70000"/>
                <a:satMod val="100000"/>
              </a:schemeClr>
            </a:gs>
          </a:gsLst>
          <a:path path="circle">
            <a:fillToRect l="-15000" t="-15000" r="115000" b="115000"/>
          </a:path>
        </a:gradFill>
        <a:gradFill rotWithShape="1">
          <a:gsLst>
            <a:gs pos="0">
              <a:schemeClr val="phClr">
                <a:shade val="60000"/>
              </a:schemeClr>
            </a:gs>
            <a:gs pos="33000">
              <a:schemeClr val="phClr">
                <a:tint val="86500"/>
              </a:schemeClr>
            </a:gs>
            <a:gs pos="46750">
              <a:schemeClr val="phClr">
                <a:tint val="71000"/>
                <a:satMod val="112000"/>
              </a:schemeClr>
            </a:gs>
            <a:gs pos="53000">
              <a:schemeClr val="phClr">
                <a:tint val="71000"/>
                <a:satMod val="112000"/>
              </a:schemeClr>
            </a:gs>
            <a:gs pos="68000">
              <a:schemeClr val="phClr">
                <a:tint val="86000"/>
              </a:schemeClr>
            </a:gs>
            <a:gs pos="100000">
              <a:schemeClr val="phClr">
                <a:shade val="60000"/>
              </a:schemeClr>
            </a:gs>
          </a:gsLst>
          <a:lin ang="8350000" scaled="1"/>
        </a:gradFill>
      </a:fillStyleLst>
      <a:lnStyleLst>
        <a:ln w="9525" cap="flat" cmpd="sng" algn="ctr">
          <a:solidFill>
            <a:schemeClr val="phClr">
              <a:shade val="48000"/>
              <a:satMod val="11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130000" dist="101600" dir="2700000" algn="tl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  <a:scene3d>
            <a:camera prst="orthographicFront" fov="0">
              <a:rot lat="0" lon="0" rev="0"/>
            </a:camera>
            <a:lightRig rig="soft" dir="tl">
              <a:rot lat="0" lon="0" rev="20100000"/>
            </a:lightRig>
          </a:scene3d>
          <a:sp3d>
            <a:bevelT w="508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180000"/>
              </a:schemeClr>
            </a:gs>
            <a:gs pos="100000">
              <a:schemeClr val="phClr">
                <a:shade val="45000"/>
                <a:satMod val="120000"/>
              </a:schemeClr>
            </a:gs>
          </a:gsLst>
          <a:path path="circle">
            <a:fillToRect r="10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3000"/>
                <a:satMod val="110000"/>
              </a:schemeClr>
              <a:schemeClr val="phClr">
                <a:tint val="60000"/>
                <a:satMod val="425000"/>
              </a:schemeClr>
            </a:duotone>
          </a:blip>
          <a:stretch>
            <a:fillRect/>
          </a:stretch>
        </a:blip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Apex.thmx</Template>
  <TotalTime>340</TotalTime>
  <Words>100</Words>
  <Application>Microsoft Macintosh PowerPoint</Application>
  <PresentationFormat>On-screen Show (4:3)</PresentationFormat>
  <Paragraphs>29</Paragraphs>
  <Slides>9</Slides>
  <Notes>0</Notes>
  <HiddenSlides>0</HiddenSlides>
  <MMClips>1</MMClips>
  <ScaleCrop>false</ScaleCrop>
  <HeadingPairs>
    <vt:vector size="6" baseType="variant">
      <vt:variant>
        <vt:lpstr>Design Template</vt:lpstr>
      </vt:variant>
      <vt:variant>
        <vt:i4>1</vt:i4>
      </vt:variant>
      <vt:variant>
        <vt:lpstr>Links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1" baseType="lpstr">
      <vt:lpstr>Apex</vt:lpstr>
      <vt:lpstr>Macintosh HD:Users:ljcamp:Documents:IUproposals:ubicomp:IEEEsecPriv:ieee_01_11.doc!OLE_LINK1</vt:lpstr>
      <vt:lpstr>ETHOS A Project with Privacy by Design</vt:lpstr>
      <vt:lpstr>Slide 2</vt:lpstr>
      <vt:lpstr>Domains</vt:lpstr>
      <vt:lpstr>Goals</vt:lpstr>
      <vt:lpstr>Empowerment</vt:lpstr>
      <vt:lpstr>Control</vt:lpstr>
      <vt:lpstr>Transparency</vt:lpstr>
      <vt:lpstr>What Matters?</vt:lpstr>
      <vt:lpstr>Conclusions</vt:lpstr>
    </vt:vector>
  </TitlesOfParts>
  <Company>Informatics/Indiana University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ETHOS A Project with Privacy by Design</dc:title>
  <dc:creator>L. Jean Camp</dc:creator>
  <cp:lastModifiedBy>L. Jean Camp</cp:lastModifiedBy>
  <cp:revision>15</cp:revision>
  <dcterms:created xsi:type="dcterms:W3CDTF">2010-01-26T03:22:58Z</dcterms:created>
  <dcterms:modified xsi:type="dcterms:W3CDTF">2010-01-26T03:40:01Z</dcterms:modified>
</cp:coreProperties>
</file>